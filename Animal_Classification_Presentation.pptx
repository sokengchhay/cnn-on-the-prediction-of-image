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81" d="100"/>
          <a:sy n="81" d="100"/>
        </p:scale>
        <p:origin x="1263" y="6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Acc</c:v>
                </c:pt>
              </c:strCache>
            </c:strRef>
          </c:tx>
          <c:spPr>
            <a:ln w="31750" cap="flat">
              <a:solidFill>
                <a:srgbClr val="22D3E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2D3EE"/>
              </a:solidFill>
              <a:ln w="9525" cap="flat">
                <a:solidFill>
                  <a:srgbClr val="22D3EE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0.47099999999999997</c:v>
                </c:pt>
                <c:pt idx="1">
                  <c:v>0.79</c:v>
                </c:pt>
                <c:pt idx="2">
                  <c:v>0.89200000000000002</c:v>
                </c:pt>
                <c:pt idx="3">
                  <c:v>0.93799999999999994</c:v>
                </c:pt>
                <c:pt idx="4">
                  <c:v>0.95799999999999996</c:v>
                </c:pt>
                <c:pt idx="5">
                  <c:v>0.97199999999999998</c:v>
                </c:pt>
                <c:pt idx="6">
                  <c:v>0.99199999999999999</c:v>
                </c:pt>
                <c:pt idx="7">
                  <c:v>0.99399999999999999</c:v>
                </c:pt>
                <c:pt idx="8">
                  <c:v>1</c:v>
                </c:pt>
                <c:pt idx="9">
                  <c:v>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B1C7-4AB0-878C-395CC6F7A72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 Acc</c:v>
                </c:pt>
              </c:strCache>
            </c:strRef>
          </c:tx>
          <c:spPr>
            <a:ln w="31750" cap="flat">
              <a:solidFill>
                <a:srgbClr val="34D39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4D399"/>
              </a:solidFill>
              <a:ln w="9525" cap="flat">
                <a:solidFill>
                  <a:srgbClr val="34D399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0.92</c:v>
                </c:pt>
                <c:pt idx="1">
                  <c:v>0.88</c:v>
                </c:pt>
                <c:pt idx="2">
                  <c:v>0.92</c:v>
                </c:pt>
                <c:pt idx="3">
                  <c:v>0.94</c:v>
                </c:pt>
                <c:pt idx="4">
                  <c:v>0.96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B1C7-4AB0-878C-395CC6F7A7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9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1A233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1934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2801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3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 PROJECT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Animal Image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33832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Convolutional Neural Network  ·  TensorFlow / Keras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9319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Classes  ·  551 Images  ·  100% Validation Accuracy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ANIMAL CLASSIFICATION  ·  CNN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1A2332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371600"/>
            <a:ext cx="73152" cy="12801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645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Animal Classes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20574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Bear, Cat, Cow, Dog, Horse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1A2332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0" y="1371600"/>
            <a:ext cx="73152" cy="128016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2" name="Text 10"/>
          <p:cNvSpPr/>
          <p:nvPr/>
        </p:nvSpPr>
        <p:spPr>
          <a:xfrm>
            <a:off x="5074920" y="1645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Architecture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74920" y="20574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Conv blocks + Dense layers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1A2332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834640"/>
            <a:ext cx="73152" cy="128016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108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Accuracy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77240" y="3520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 validation results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54880" y="283464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1A2332"/>
          </a:solidFill>
          <a:ln/>
        </p:spPr>
      </p:sp>
      <p:sp>
        <p:nvSpPr>
          <p:cNvPr id="19" name="Shape 17"/>
          <p:cNvSpPr/>
          <p:nvPr/>
        </p:nvSpPr>
        <p:spPr>
          <a:xfrm>
            <a:off x="4754880" y="2834640"/>
            <a:ext cx="73152" cy="128016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0" name="Text 18"/>
          <p:cNvSpPr/>
          <p:nvPr/>
        </p:nvSpPr>
        <p:spPr>
          <a:xfrm>
            <a:off x="5074920" y="3108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Inference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074920" y="3520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on new images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ANIMAL CLASSIFICATION  ·  CNN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&amp; Preprocessing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1A233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17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Images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06040" y="128016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1A2332"/>
          </a:solidFill>
          <a:ln/>
        </p:spPr>
      </p:sp>
      <p:sp>
        <p:nvSpPr>
          <p:cNvPr id="10" name="Text 8"/>
          <p:cNvSpPr/>
          <p:nvPr/>
        </p:nvSpPr>
        <p:spPr>
          <a:xfrm>
            <a:off x="2606040" y="1417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606040" y="1965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Images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28016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1A2332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417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754880" y="1965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03720" y="128016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1A2332"/>
          </a:solidFill>
          <a:ln/>
        </p:spPr>
      </p:sp>
      <p:sp>
        <p:nvSpPr>
          <p:cNvPr id="16" name="Text 14"/>
          <p:cNvSpPr/>
          <p:nvPr/>
        </p:nvSpPr>
        <p:spPr>
          <a:xfrm>
            <a:off x="6903720" y="1417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200x200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903720" y="1965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Size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3154680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1A2332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2461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Bear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148840" y="3154680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1A2332"/>
          </a:solidFill>
          <a:ln/>
        </p:spPr>
      </p:sp>
      <p:sp>
        <p:nvSpPr>
          <p:cNvPr id="22" name="Text 20"/>
          <p:cNvSpPr/>
          <p:nvPr/>
        </p:nvSpPr>
        <p:spPr>
          <a:xfrm>
            <a:off x="2148840" y="32461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840480" y="3154680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1A2332"/>
          </a:solidFill>
          <a:ln/>
        </p:spPr>
      </p:sp>
      <p:sp>
        <p:nvSpPr>
          <p:cNvPr id="24" name="Text 22"/>
          <p:cNvSpPr/>
          <p:nvPr/>
        </p:nvSpPr>
        <p:spPr>
          <a:xfrm>
            <a:off x="3840480" y="32461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Cow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532120" y="3154680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1A2332"/>
          </a:solidFill>
          <a:ln/>
        </p:spPr>
      </p:sp>
      <p:sp>
        <p:nvSpPr>
          <p:cNvPr id="26" name="Text 24"/>
          <p:cNvSpPr/>
          <p:nvPr/>
        </p:nvSpPr>
        <p:spPr>
          <a:xfrm>
            <a:off x="5532120" y="32461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Dog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223760" y="3154680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1A2332"/>
          </a:solidFill>
          <a:ln/>
        </p:spPr>
      </p:sp>
      <p:sp>
        <p:nvSpPr>
          <p:cNvPr id="28" name="Text 26"/>
          <p:cNvSpPr/>
          <p:nvPr/>
        </p:nvSpPr>
        <p:spPr>
          <a:xfrm>
            <a:off x="7223760" y="32461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Horse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 rescaled to [0, 1]  ·  Categorical labels  ·  Batch size 10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ANIMAL CLASSIFICATION  ·  CNN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Architecture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029200" cy="438912"/>
          </a:xfrm>
          <a:prstGeom prst="roundRect">
            <a:avLst>
              <a:gd name="adj" fmla="val 12500"/>
            </a:avLst>
          </a:prstGeom>
          <a:solidFill>
            <a:srgbClr val="1A2332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188720"/>
            <a:ext cx="73152" cy="43891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2344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0" y="12344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x 200 x 3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5029200" cy="438912"/>
          </a:xfrm>
          <a:prstGeom prst="roundRect">
            <a:avLst>
              <a:gd name="adj" fmla="val 12500"/>
            </a:avLst>
          </a:prstGeom>
          <a:solidFill>
            <a:srgbClr val="1A2332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691640"/>
            <a:ext cx="73152" cy="43891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7373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Conv2D 16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43200" y="17373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3x3, ReLU + MaxPool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194560"/>
            <a:ext cx="5029200" cy="438912"/>
          </a:xfrm>
          <a:prstGeom prst="roundRect">
            <a:avLst>
              <a:gd name="adj" fmla="val 12500"/>
            </a:avLst>
          </a:prstGeom>
          <a:solidFill>
            <a:srgbClr val="1A2332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194560"/>
            <a:ext cx="73152" cy="43891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2402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Conv2D 32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43200" y="22402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3x3, ReLU + MaxPool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697480"/>
            <a:ext cx="5029200" cy="438912"/>
          </a:xfrm>
          <a:prstGeom prst="roundRect">
            <a:avLst>
              <a:gd name="adj" fmla="val 12500"/>
            </a:avLst>
          </a:prstGeom>
          <a:solidFill>
            <a:srgbClr val="1A2332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2697480"/>
            <a:ext cx="73152" cy="43891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27432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Conv2D 64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743200" y="27432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3x3, ReLU + MaxPool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200400"/>
            <a:ext cx="5029200" cy="438912"/>
          </a:xfrm>
          <a:prstGeom prst="roundRect">
            <a:avLst>
              <a:gd name="adj" fmla="val 12500"/>
            </a:avLst>
          </a:prstGeom>
          <a:solidFill>
            <a:srgbClr val="1A2332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200400"/>
            <a:ext cx="73152" cy="43891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2461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Flatten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743200" y="32461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 Dense 512 (ReLU)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3703320"/>
            <a:ext cx="5029200" cy="438912"/>
          </a:xfrm>
          <a:prstGeom prst="roundRect">
            <a:avLst>
              <a:gd name="adj" fmla="val 12500"/>
            </a:avLst>
          </a:prstGeom>
          <a:solidFill>
            <a:srgbClr val="1A2332"/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" y="3703320"/>
            <a:ext cx="73152" cy="43891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37490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743200" y="37490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classes, Softmax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760720" y="1188720"/>
            <a:ext cx="2926080" cy="3017520"/>
          </a:xfrm>
          <a:prstGeom prst="roundRect">
            <a:avLst>
              <a:gd name="adj" fmla="val 3125"/>
            </a:avLst>
          </a:prstGeom>
          <a:solidFill>
            <a:srgbClr val="1A2332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0" y="1371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Setup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943600" y="19202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223760" y="19202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Categorical CE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943600" y="23317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Optimizer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223760" y="23317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Adam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943600" y="27432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223760" y="27432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943600" y="31546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Size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223760" y="31546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943600" y="35661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223760" y="35661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ANIMAL CLASSIFICATION  ·  CNN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Progress</a:t>
            </a:r>
            <a:endParaRPr lang="en-US" sz="28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1188720"/>
          <a:ext cx="53035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943600" y="128016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1A2332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0" y="1417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94360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Train Acc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943600" y="228600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1A2332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0" y="2423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5943600" y="2788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Val Acc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943600" y="329184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1A2332"/>
          </a:solidFill>
          <a:ln/>
        </p:spPr>
      </p:sp>
      <p:sp>
        <p:nvSpPr>
          <p:cNvPr id="14" name="Text 11"/>
          <p:cNvSpPr/>
          <p:nvPr/>
        </p:nvSpPr>
        <p:spPr>
          <a:xfrm>
            <a:off x="5943600" y="3429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0.0009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594360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Val Loss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ANIMAL CLASSIFICATION  ·  CNN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Epoch-by-Epoch Metrics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7680960" cy="3291838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925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D3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Epoch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D3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 Acc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D3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 Loss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D3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 Acc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D3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 Loss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25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47.1%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1.461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92.0%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25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79.0%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0.506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88.0%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0.287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25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89.2%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0.314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92.0%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0.213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25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93.8%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0.199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94.0%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0.120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925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95.8%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0.096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96.0%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0.102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925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97.2%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0.092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0.022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925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99.2%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0.038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0.047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925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99.4%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0.022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925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925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ANIMAL CLASSIFICATION  ·  CNN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Making Predictions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011680" cy="2011680"/>
          </a:xfrm>
          <a:prstGeom prst="roundRect">
            <a:avLst>
              <a:gd name="adj" fmla="val 4545"/>
            </a:avLst>
          </a:prstGeom>
          <a:solidFill>
            <a:srgbClr val="1A233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54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Image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560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Resize to 200x200 pixels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06040" y="1371600"/>
            <a:ext cx="2011680" cy="2011680"/>
          </a:xfrm>
          <a:prstGeom prst="roundRect">
            <a:avLst>
              <a:gd name="adj" fmla="val 4545"/>
            </a:avLst>
          </a:prstGeom>
          <a:solidFill>
            <a:srgbClr val="1A2332"/>
          </a:solidFill>
          <a:ln/>
        </p:spPr>
      </p:sp>
      <p:sp>
        <p:nvSpPr>
          <p:cNvPr id="11" name="Text 9"/>
          <p:cNvSpPr/>
          <p:nvPr/>
        </p:nvSpPr>
        <p:spPr>
          <a:xfrm>
            <a:off x="2606040" y="1554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697480" y="2103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697480" y="2560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pixel values to [0, 1]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371600"/>
            <a:ext cx="2011680" cy="2011680"/>
          </a:xfrm>
          <a:prstGeom prst="roundRect">
            <a:avLst>
              <a:gd name="adj" fmla="val 4545"/>
            </a:avLst>
          </a:prstGeom>
          <a:solidFill>
            <a:srgbClr val="1A2332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554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846320" y="2103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Dims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46320" y="2560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batch dimension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03720" y="1371600"/>
            <a:ext cx="2011680" cy="2011680"/>
          </a:xfrm>
          <a:prstGeom prst="roundRect">
            <a:avLst>
              <a:gd name="adj" fmla="val 4545"/>
            </a:avLst>
          </a:prstGeom>
          <a:solidFill>
            <a:srgbClr val="1A2332"/>
          </a:solidFill>
          <a:ln/>
        </p:spPr>
      </p:sp>
      <p:sp>
        <p:nvSpPr>
          <p:cNvPr id="19" name="Text 17"/>
          <p:cNvSpPr/>
          <p:nvPr/>
        </p:nvSpPr>
        <p:spPr>
          <a:xfrm>
            <a:off x="6903720" y="1554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995160" y="2103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995160" y="2560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 -&gt; class + confidence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6576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1A2332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7947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result:  "This is a Horse (99.99%)"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ANIMAL CLASSIFICATION  ·  CNN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1A233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80160" y="13258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Performance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16002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Reached 100% validation accuracy by epoch 6 and maintained it through the end of training.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0574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1A233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80160" y="21488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&amp; Effective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24231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lightweight 3-block CNN was sufficient for this 5-class animal recognition task.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1A2332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280160" y="29718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for Inference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80160" y="32461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trained model correctly classifies new images with high confidence (e.g. 99.99%).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7033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1A2332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280160" y="37947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80160" y="40690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data augmentation, expand the class set, or deploy as a web/API service.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449</TotalTime>
  <Words>435</Words>
  <Application>Microsoft Office PowerPoint</Application>
  <PresentationFormat>On-screen Show (16:9)</PresentationFormat>
  <Paragraphs>173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Animal Image Classification with CNN</dc:title>
  <dc:subject>Deep Learning - TensorFlow/Keras</dc:subject>
  <dc:creator>Animal Classification Project</dc:creator>
  <cp:lastModifiedBy>Sok Engchhay</cp:lastModifiedBy>
  <cp:revision>2</cp:revision>
  <dcterms:created xsi:type="dcterms:W3CDTF">2026-09-28T23:21:43Z</dcterms:created>
  <dcterms:modified xsi:type="dcterms:W3CDTF">2026-09-29T06:52:42Z</dcterms:modified>
</cp:coreProperties>
</file>